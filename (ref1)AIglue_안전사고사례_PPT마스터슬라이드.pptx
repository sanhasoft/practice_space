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2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7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7536C-7301-2267-A6C2-6731148C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6A42D-C6D2-FF03-245B-0842A4BE0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D046-B61F-2D3C-300B-8AE018299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8759D-C9FE-3CC7-D35E-21CCDFF9F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13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760720"/>
            <a:ext cx="1280160" cy="1097280"/>
          </a:xfrm>
          <a:prstGeom prst="rect">
            <a:avLst/>
          </a:prstGeom>
          <a:solidFill>
            <a:srgbClr val="FDB91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7863840" y="5760720"/>
            <a:ext cx="457200" cy="45720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AIGLUE 안전보건팀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 G L U 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017520" cy="457200"/>
          </a:xfrm>
          <a:prstGeom prst="rect">
            <a:avLst/>
          </a:prstGeom>
          <a:solidFill>
            <a:srgbClr val="FDB91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 · 정기 안전보건 자료</a:t>
            </a:r>
            <a:endParaRPr lang="en-US" sz="1100" dirty="0"/>
          </a:p>
        </p:txBody>
      </p:sp>
      <p:sp>
        <p:nvSpPr>
          <p:cNvPr id="8" name="Text 6"/>
          <p:cNvSpPr>
            <a:spLocks noGrp="1"/>
          </p:cNvSpPr>
          <p:nvPr>
            <p:ph type="title" idx="106" hasCustomPrompt="1"/>
          </p:nvPr>
        </p:nvSpPr>
        <p:spPr>
          <a:xfrm>
            <a:off x="548640" y="237744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ts val="4600"/>
              </a:lnSpc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제조현장 안전사고 사례</a:t>
            </a:r>
            <a:endParaRPr lang="en-US" sz="4000" dirty="0"/>
          </a:p>
        </p:txBody>
      </p:sp>
      <p:sp>
        <p:nvSpPr>
          <p:cNvPr id="9" name="Text 6"/>
          <p:cNvSpPr>
            <a:spLocks noGrp="1"/>
          </p:cNvSpPr>
          <p:nvPr>
            <p:ph type="body" idx="107" hasCustomPrompt="1"/>
          </p:nvPr>
        </p:nvSpPr>
        <p:spPr>
          <a:xfrm>
            <a:off x="54864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AIGLUE 안전보건팀</a:t>
            </a:r>
            <a:endParaRPr lang="en-US" sz="1800" dirty="0"/>
          </a:p>
        </p:txBody>
      </p:sp>
      <p:sp>
        <p:nvSpPr>
          <p:cNvPr id="10" name="Text 6"/>
          <p:cNvSpPr>
            <a:spLocks noGrp="1"/>
          </p:cNvSpPr>
          <p:nvPr>
            <p:ph type="body" idx="108" hasCustomPrompt="1"/>
          </p:nvPr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07. 24   |   전사 안전보건교육 자료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A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65760" cy="3657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3" name="Image 0" descr="icon_warning_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4632"/>
            <a:ext cx="219456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411480"/>
            <a:ext cx="1600200" cy="3657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2"/>
          <p:cNvSpPr/>
          <p:nvPr/>
        </p:nvSpPr>
        <p:spPr>
          <a:xfrm>
            <a:off x="896112" y="411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AIGLUE 안전보건팀</a:t>
            </a:r>
            <a:endParaRPr lang="en-US" sz="900" dirty="0"/>
          </a:p>
        </p:txBody>
      </p:sp>
      <p:sp>
        <p:nvSpPr>
          <p:cNvPr id="7" name="Text 4"/>
          <p:cNvSpPr>
            <a:spLocks noGrp="1"/>
          </p:cNvSpPr>
          <p:nvPr>
            <p:ph type="title" idx="105" hasCustomPrompt="1"/>
          </p:nvPr>
        </p:nvSpPr>
        <p:spPr>
          <a:xfrm>
            <a:off x="457200" y="960120"/>
            <a:ext cx="5486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457200" y="2148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5"/>
          <p:cNvSpPr>
            <a:spLocks noGrp="1"/>
          </p:cNvSpPr>
          <p:nvPr>
            <p:ph type="body" idx="107" hasCustomPrompt="1"/>
          </p:nvPr>
        </p:nvSpPr>
        <p:spPr>
          <a:xfrm>
            <a:off x="1508760" y="214884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당사 주간 사고사례</a:t>
            </a:r>
            <a:endParaRPr lang="en-US" sz="1800" dirty="0"/>
          </a:p>
        </p:txBody>
      </p:sp>
      <p:sp>
        <p:nvSpPr>
          <p:cNvPr id="10" name="Text 5"/>
          <p:cNvSpPr>
            <a:spLocks noGrp="1"/>
          </p:cNvSpPr>
          <p:nvPr>
            <p:ph type="body" idx="108" hasCustomPrompt="1"/>
          </p:nvPr>
        </p:nvSpPr>
        <p:spPr>
          <a:xfrm>
            <a:off x="1508760" y="2532888"/>
            <a:ext cx="6675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발생한 사내/협력사 안전사고 개요</a:t>
            </a:r>
            <a:endParaRPr lang="en-US" sz="1200" dirty="0"/>
          </a:p>
        </p:txBody>
      </p:sp>
      <p:sp>
        <p:nvSpPr>
          <p:cNvPr id="11" name="Shape 5"/>
          <p:cNvSpPr/>
          <p:nvPr/>
        </p:nvSpPr>
        <p:spPr>
          <a:xfrm>
            <a:off x="457200" y="3017520"/>
            <a:ext cx="8229600" cy="10973"/>
          </a:xfrm>
          <a:prstGeom prst="rect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6"/>
          <p:cNvSpPr/>
          <p:nvPr/>
        </p:nvSpPr>
        <p:spPr>
          <a:xfrm>
            <a:off x="4572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7"/>
          <p:cNvSpPr>
            <a:spLocks noGrp="1"/>
          </p:cNvSpPr>
          <p:nvPr>
            <p:ph type="body" idx="111" hasCustomPrompt="1"/>
          </p:nvPr>
        </p:nvSpPr>
        <p:spPr>
          <a:xfrm>
            <a:off x="150876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 원인 분석</a:t>
            </a:r>
            <a:endParaRPr lang="en-US" sz="1800" dirty="0"/>
          </a:p>
        </p:txBody>
      </p:sp>
      <p:sp>
        <p:nvSpPr>
          <p:cNvPr id="14" name="Text 7"/>
          <p:cNvSpPr>
            <a:spLocks noGrp="1"/>
          </p:cNvSpPr>
          <p:nvPr>
            <p:ph type="body" idx="112" hasCustomPrompt="1"/>
          </p:nvPr>
        </p:nvSpPr>
        <p:spPr>
          <a:xfrm>
            <a:off x="1508760" y="3584448"/>
            <a:ext cx="6675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직접원인, 간접원인 및 불안전 행동/상태 분석</a:t>
            </a:r>
            <a:endParaRPr lang="en-US" sz="1200" dirty="0"/>
          </a:p>
        </p:txBody>
      </p:sp>
      <p:sp>
        <p:nvSpPr>
          <p:cNvPr id="15" name="Shape 7"/>
          <p:cNvSpPr/>
          <p:nvPr/>
        </p:nvSpPr>
        <p:spPr>
          <a:xfrm>
            <a:off x="457200" y="4069080"/>
            <a:ext cx="8229600" cy="10973"/>
          </a:xfrm>
          <a:prstGeom prst="rect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8"/>
          <p:cNvSpPr/>
          <p:nvPr/>
        </p:nvSpPr>
        <p:spPr>
          <a:xfrm>
            <a:off x="457200" y="4251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9"/>
          <p:cNvSpPr>
            <a:spLocks noGrp="1"/>
          </p:cNvSpPr>
          <p:nvPr>
            <p:ph type="body" idx="115" hasCustomPrompt="1"/>
          </p:nvPr>
        </p:nvSpPr>
        <p:spPr>
          <a:xfrm>
            <a:off x="150876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재발방지대책</a:t>
            </a:r>
            <a:endParaRPr lang="en-US" sz="1800" dirty="0"/>
          </a:p>
        </p:txBody>
      </p:sp>
      <p:sp>
        <p:nvSpPr>
          <p:cNvPr id="18" name="Text 9"/>
          <p:cNvSpPr>
            <a:spLocks noGrp="1"/>
          </p:cNvSpPr>
          <p:nvPr>
            <p:ph type="body" idx="116" hasCustomPrompt="1"/>
          </p:nvPr>
        </p:nvSpPr>
        <p:spPr>
          <a:xfrm>
            <a:off x="1508760" y="4636008"/>
            <a:ext cx="6675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 조치사항 및 중장기 개선계획</a:t>
            </a:r>
            <a:endParaRPr lang="en-US" sz="1200" dirty="0"/>
          </a:p>
        </p:txBody>
      </p:sp>
      <p:sp>
        <p:nvSpPr>
          <p:cNvPr id="19" name="Shape 9"/>
          <p:cNvSpPr/>
          <p:nvPr/>
        </p:nvSpPr>
        <p:spPr>
          <a:xfrm>
            <a:off x="457200" y="5120640"/>
            <a:ext cx="8229600" cy="10973"/>
          </a:xfrm>
          <a:prstGeom prst="rect">
            <a:avLst/>
          </a:prstGeom>
          <a:solidFill>
            <a:srgbClr val="C9C9C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0"/>
          <p:cNvSpPr/>
          <p:nvPr/>
        </p:nvSpPr>
        <p:spPr>
          <a:xfrm>
            <a:off x="457200" y="5303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1"/>
          <p:cNvSpPr>
            <a:spLocks noGrp="1"/>
          </p:cNvSpPr>
          <p:nvPr>
            <p:ph type="body" idx="119" hasCustomPrompt="1"/>
          </p:nvPr>
        </p:nvSpPr>
        <p:spPr>
          <a:xfrm>
            <a:off x="1508760" y="530352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안전수칙 공유</a:t>
            </a:r>
            <a:endParaRPr lang="en-US" sz="1800" dirty="0"/>
          </a:p>
        </p:txBody>
      </p:sp>
      <p:sp>
        <p:nvSpPr>
          <p:cNvPr id="22" name="Text 11"/>
          <p:cNvSpPr>
            <a:spLocks noGrp="1"/>
          </p:cNvSpPr>
          <p:nvPr>
            <p:ph type="body" idx="120" hasCustomPrompt="1"/>
          </p:nvPr>
        </p:nvSpPr>
        <p:spPr>
          <a:xfrm>
            <a:off x="1508760" y="5687568"/>
            <a:ext cx="6675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동종 작업 부서 공유 및 교육 계획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6E6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IDENT_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65760" cy="3657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3" name="Image 0" descr="icon_warning_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4632"/>
            <a:ext cx="219456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411480"/>
            <a:ext cx="1600200" cy="3657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2"/>
          <p:cNvSpPr/>
          <p:nvPr/>
        </p:nvSpPr>
        <p:spPr>
          <a:xfrm>
            <a:off x="896112" y="411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 사례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AIGLUE 안전보건팀</a:t>
            </a:r>
            <a:endParaRPr lang="en-US" sz="900" dirty="0"/>
          </a:p>
        </p:txBody>
      </p:sp>
      <p:sp>
        <p:nvSpPr>
          <p:cNvPr id="7" name="Text 4"/>
          <p:cNvSpPr>
            <a:spLocks noGrp="1"/>
          </p:cNvSpPr>
          <p:nvPr>
            <p:ph type="title" idx="105" hasCustomPrompt="1"/>
          </p:nvPr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[사고사례] 프레스 협착 사고</a:t>
            </a:r>
            <a:endParaRPr lang="en-US" sz="2500" dirty="0"/>
          </a:p>
        </p:txBody>
      </p:sp>
      <p:sp>
        <p:nvSpPr>
          <p:cNvPr id="8" name="Shape 4"/>
          <p:cNvSpPr/>
          <p:nvPr/>
        </p:nvSpPr>
        <p:spPr>
          <a:xfrm>
            <a:off x="457200" y="1691640"/>
            <a:ext cx="4846320" cy="4572000"/>
          </a:xfrm>
          <a:prstGeom prst="rect">
            <a:avLst/>
          </a:prstGeom>
          <a:solidFill>
            <a:srgbClr val="EDEDEA"/>
          </a:solidFill>
          <a:ln/>
          <a:effectLst>
            <a:outerShdw blurRad="76200" dist="25400" dir="5400000" algn="bl" rotWithShape="0">
              <a:srgbClr val="808080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9" name="Image 1" descr="icon_calendar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4767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일시</a:t>
            </a:r>
            <a:endParaRPr lang="en-US" sz="1200" dirty="0"/>
          </a:p>
        </p:txBody>
      </p:sp>
      <p:sp>
        <p:nvSpPr>
          <p:cNvPr id="11" name="Text 6"/>
          <p:cNvSpPr>
            <a:spLocks noGrp="1"/>
          </p:cNvSpPr>
          <p:nvPr>
            <p:ph type="body" idx="109" hasCustomPrompt="1"/>
          </p:nvPr>
        </p:nvSpPr>
        <p:spPr>
          <a:xfrm>
            <a:off x="1783080" y="1920240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ts val="1600"/>
              </a:lnSpc>
              <a:buNone/>
              <a:def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2026.07.20(월) 14:30</a:t>
            </a:r>
            <a:endParaRPr lang="en-US" sz="1200" dirty="0"/>
          </a:p>
        </p:txBody>
      </p:sp>
      <p:pic>
        <p:nvPicPr>
          <p:cNvPr id="12" name="Image 2" descr="icon_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59152"/>
            <a:ext cx="219456" cy="21945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31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장소</a:t>
            </a:r>
            <a:endParaRPr lang="en-US" sz="1200" dirty="0"/>
          </a:p>
        </p:txBody>
      </p:sp>
      <p:sp>
        <p:nvSpPr>
          <p:cNvPr id="14" name="Text 7"/>
          <p:cNvSpPr>
            <a:spLocks noGrp="1"/>
          </p:cNvSpPr>
          <p:nvPr>
            <p:ph type="body" idx="112" hasCustomPrompt="1"/>
          </p:nvPr>
        </p:nvSpPr>
        <p:spPr>
          <a:xfrm>
            <a:off x="178308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ts val="1600"/>
              </a:lnSpc>
              <a:buNone/>
              <a:def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OO공장 3라인 프레스 작업장</a:t>
            </a:r>
            <a:endParaRPr lang="en-US" sz="1200" dirty="0"/>
          </a:p>
        </p:txBody>
      </p:sp>
      <p:pic>
        <p:nvPicPr>
          <p:cNvPr id="15" name="Image 3" descr="icon_building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70632"/>
            <a:ext cx="219456" cy="21945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51560" y="27432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</a:t>
            </a:r>
            <a:endParaRPr lang="en-US" sz="1200" dirty="0"/>
          </a:p>
        </p:txBody>
      </p:sp>
      <p:sp>
        <p:nvSpPr>
          <p:cNvPr id="17" name="Text 8"/>
          <p:cNvSpPr>
            <a:spLocks noGrp="1"/>
          </p:cNvSpPr>
          <p:nvPr>
            <p:ph type="body" idx="115" hasCustomPrompt="1"/>
          </p:nvPr>
        </p:nvSpPr>
        <p:spPr>
          <a:xfrm>
            <a:off x="1783080" y="2743200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ts val="1600"/>
              </a:lnSpc>
              <a:buNone/>
              <a:def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생산1팀 / 협력업체 OOO</a:t>
            </a:r>
            <a:endParaRPr lang="en-US" sz="1200" dirty="0"/>
          </a:p>
        </p:txBody>
      </p:sp>
      <p:pic>
        <p:nvPicPr>
          <p:cNvPr id="18" name="Image 4" descr="icon_clipboard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82112"/>
            <a:ext cx="219456" cy="219456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051560" y="3154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</a:t>
            </a:r>
            <a:endParaRPr lang="en-US" sz="1200" dirty="0"/>
          </a:p>
        </p:txBody>
      </p:sp>
      <p:sp>
        <p:nvSpPr>
          <p:cNvPr id="20" name="Text 9"/>
          <p:cNvSpPr>
            <a:spLocks noGrp="1"/>
          </p:cNvSpPr>
          <p:nvPr>
            <p:ph type="body" idx="118" hasCustomPrompt="1"/>
          </p:nvPr>
        </p:nvSpPr>
        <p:spPr>
          <a:xfrm>
            <a:off x="1783080" y="3154680"/>
            <a:ext cx="33832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ts val="1600"/>
              </a:lnSpc>
              <a:buNone/>
              <a:def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프레스 금형 교체작업 중 안전핀 미체결 상태에서 페달이 오작동되어 손 협착 발생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작업자 우측 손가락 3지골 골절, 병원 이송 후 응급 수술 시행</a:t>
            </a:r>
            <a:endParaRPr lang="en-US" sz="1200" dirty="0"/>
          </a:p>
        </p:txBody>
      </p:sp>
      <p:sp>
        <p:nvSpPr>
          <p:cNvPr id="21" name="Shape 9"/>
          <p:cNvSpPr/>
          <p:nvPr/>
        </p:nvSpPr>
        <p:spPr>
          <a:xfrm>
            <a:off x="731520" y="4892040"/>
            <a:ext cx="4297680" cy="50292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10"/>
          <p:cNvSpPr>
            <a:spLocks noGrp="1"/>
          </p:cNvSpPr>
          <p:nvPr>
            <p:ph type="body" idx="120" hasCustomPrompt="1"/>
          </p:nvPr>
        </p:nvSpPr>
        <p:spPr>
          <a:xfrm>
            <a:off x="731520" y="4892040"/>
            <a:ext cx="4297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재해정도 : 경상 (4주 진단)</a:t>
            </a:r>
            <a:endParaRPr lang="en-US" sz="1400" dirty="0"/>
          </a:p>
        </p:txBody>
      </p:sp>
      <p:sp>
        <p:nvSpPr>
          <p:cNvPr id="23" name="Shape 10"/>
          <p:cNvSpPr/>
          <p:nvPr/>
        </p:nvSpPr>
        <p:spPr>
          <a:xfrm>
            <a:off x="5486400" y="1691640"/>
            <a:ext cx="3200400" cy="3429000"/>
          </a:xfrm>
          <a:prstGeom prst="rect">
            <a:avLst/>
          </a:prstGeom>
          <a:solidFill>
            <a:srgbClr val="F7F7F7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pic>
        <p:nvPicPr>
          <p:cNvPr id="24" name="Image 5" descr="icon_image_gr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2743200"/>
            <a:ext cx="640080" cy="64008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566928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 현장 사진을 삽입하세요</a:t>
            </a:r>
            <a:endParaRPr lang="en-US" sz="1100" dirty="0"/>
          </a:p>
        </p:txBody>
      </p:sp>
      <p:sp>
        <p:nvSpPr>
          <p:cNvPr id="26" name="Text 12"/>
          <p:cNvSpPr/>
          <p:nvPr/>
        </p:nvSpPr>
        <p:spPr>
          <a:xfrm>
            <a:off x="5486400" y="5230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사진: 현장 촬영본 / 개인정보 노출 금지</a:t>
            </a:r>
            <a:endParaRPr lang="en-US" sz="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6E6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760720"/>
            <a:ext cx="1280160" cy="1097280"/>
          </a:xfrm>
          <a:prstGeom prst="rect">
            <a:avLst/>
          </a:prstGeom>
          <a:solidFill>
            <a:srgbClr val="FDB913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7863840" y="5760720"/>
            <a:ext cx="457200" cy="45720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AIGLUE 안전보건팀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109728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8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283464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 원인 분석</a:t>
            </a:r>
            <a:endParaRPr lang="en-US" sz="32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직접원인 · 간접원인 및 재발방지대책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A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A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6" hasCustomPrompt="1"/>
          </p:nvPr>
        </p:nvSpPr>
        <p:spPr>
          <a:xfrm>
            <a:off x="548640" y="23774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제조현장</a:t>
            </a:r>
            <a:endParaRPr lang="en-US" sz="4000" dirty="0"/>
          </a:p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안전사고 사례</a:t>
            </a:r>
            <a:endParaRPr lang="en-US" sz="4000" dirty="0"/>
          </a:p>
        </p:txBody>
      </p:sp>
      <p:sp>
        <p:nvSpPr>
          <p:cNvPr id="3" name="Text 6"/>
          <p:cNvSpPr>
            <a:spLocks noGrp="1"/>
          </p:cNvSpPr>
          <p:nvPr>
            <p:ph type="body" idx="107" hasCustomPrompt="1"/>
          </p:nvPr>
        </p:nvSpPr>
        <p:spPr>
          <a:xfrm>
            <a:off x="54864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AIGLUE 안전보건팀</a:t>
            </a:r>
            <a:endParaRPr lang="en-US" sz="1800" dirty="0"/>
          </a:p>
        </p:txBody>
      </p:sp>
      <p:sp>
        <p:nvSpPr>
          <p:cNvPr id="4" name="Text 6"/>
          <p:cNvSpPr>
            <a:spLocks noGrp="1"/>
          </p:cNvSpPr>
          <p:nvPr>
            <p:ph type="body" idx="108" hasCustomPrompt="1"/>
          </p:nvPr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07. 24   |   전사 안전보건교육 자료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A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5" hasCustomPrompt="1"/>
          </p:nvPr>
        </p:nvSpPr>
        <p:spPr>
          <a:xfrm>
            <a:off x="457200" y="9601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3400" dirty="0"/>
          </a:p>
        </p:txBody>
      </p:sp>
      <p:sp>
        <p:nvSpPr>
          <p:cNvPr id="3" name="Text 5"/>
          <p:cNvSpPr>
            <a:spLocks noGrp="1"/>
          </p:cNvSpPr>
          <p:nvPr>
            <p:ph type="body" idx="107" hasCustomPrompt="1"/>
          </p:nvPr>
        </p:nvSpPr>
        <p:spPr>
          <a:xfrm>
            <a:off x="150876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당사 주간 사고사례</a:t>
            </a:r>
            <a:endParaRPr lang="en-US" sz="1800" dirty="0"/>
          </a:p>
        </p:txBody>
      </p:sp>
      <p:sp>
        <p:nvSpPr>
          <p:cNvPr id="4" name="Text 5"/>
          <p:cNvSpPr>
            <a:spLocks noGrp="1"/>
          </p:cNvSpPr>
          <p:nvPr>
            <p:ph type="body" idx="108" hasCustomPrompt="1"/>
          </p:nvPr>
        </p:nvSpPr>
        <p:spPr>
          <a:xfrm>
            <a:off x="1508760" y="253288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발생한 사내/협력사 안전사고 개요</a:t>
            </a:r>
            <a:endParaRPr lang="en-US" sz="1200" dirty="0"/>
          </a:p>
        </p:txBody>
      </p:sp>
      <p:sp>
        <p:nvSpPr>
          <p:cNvPr id="5" name="Text 7"/>
          <p:cNvSpPr>
            <a:spLocks noGrp="1"/>
          </p:cNvSpPr>
          <p:nvPr>
            <p:ph type="body" idx="111" hasCustomPrompt="1"/>
          </p:nvPr>
        </p:nvSpPr>
        <p:spPr>
          <a:xfrm>
            <a:off x="150876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 원인 분석</a:t>
            </a:r>
            <a:endParaRPr lang="en-US" sz="1800" dirty="0"/>
          </a:p>
        </p:txBody>
      </p:sp>
      <p:sp>
        <p:nvSpPr>
          <p:cNvPr id="6" name="Text 7"/>
          <p:cNvSpPr>
            <a:spLocks noGrp="1"/>
          </p:cNvSpPr>
          <p:nvPr>
            <p:ph type="body" idx="112" hasCustomPrompt="1"/>
          </p:nvPr>
        </p:nvSpPr>
        <p:spPr>
          <a:xfrm>
            <a:off x="1508760" y="35844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직접원인, 간접원인 및 불안전 행동/상태 분석</a:t>
            </a:r>
            <a:endParaRPr lang="en-US" sz="1200" dirty="0"/>
          </a:p>
        </p:txBody>
      </p:sp>
      <p:sp>
        <p:nvSpPr>
          <p:cNvPr id="7" name="Text 9"/>
          <p:cNvSpPr>
            <a:spLocks noGrp="1"/>
          </p:cNvSpPr>
          <p:nvPr>
            <p:ph type="body" idx="115" hasCustomPrompt="1"/>
          </p:nvPr>
        </p:nvSpPr>
        <p:spPr>
          <a:xfrm>
            <a:off x="150876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재발방지대책</a:t>
            </a:r>
            <a:endParaRPr lang="en-US" sz="1800" dirty="0"/>
          </a:p>
        </p:txBody>
      </p:sp>
      <p:sp>
        <p:nvSpPr>
          <p:cNvPr id="8" name="Text 9"/>
          <p:cNvSpPr>
            <a:spLocks noGrp="1"/>
          </p:cNvSpPr>
          <p:nvPr>
            <p:ph type="body" idx="116" hasCustomPrompt="1"/>
          </p:nvPr>
        </p:nvSpPr>
        <p:spPr>
          <a:xfrm>
            <a:off x="1508760" y="46360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 조치사항 및 중장기 개선계획</a:t>
            </a:r>
            <a:endParaRPr lang="en-US" sz="1200" dirty="0"/>
          </a:p>
        </p:txBody>
      </p:sp>
      <p:sp>
        <p:nvSpPr>
          <p:cNvPr id="9" name="Text 11"/>
          <p:cNvSpPr>
            <a:spLocks noGrp="1"/>
          </p:cNvSpPr>
          <p:nvPr>
            <p:ph type="body" idx="119" hasCustomPrompt="1"/>
          </p:nvPr>
        </p:nvSpPr>
        <p:spPr>
          <a:xfrm>
            <a:off x="150876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안전수칙 공유</a:t>
            </a:r>
            <a:endParaRPr lang="en-US" sz="1800" dirty="0"/>
          </a:p>
        </p:txBody>
      </p:sp>
      <p:sp>
        <p:nvSpPr>
          <p:cNvPr id="10" name="Text 11"/>
          <p:cNvSpPr>
            <a:spLocks noGrp="1"/>
          </p:cNvSpPr>
          <p:nvPr>
            <p:ph type="body" idx="120" hasCustomPrompt="1"/>
          </p:nvPr>
        </p:nvSpPr>
        <p:spPr>
          <a:xfrm>
            <a:off x="1508760" y="56875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동종 작업 부서 공유 및 교육 계획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6E6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61B2-3B3F-D41B-2521-FF4EBFD7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DA487CD2-D5E1-C3BE-2A94-573F2482A909}"/>
              </a:ext>
            </a:extLst>
          </p:cNvPr>
          <p:cNvSpPr>
            <a:spLocks noGrp="1"/>
          </p:cNvSpPr>
          <p:nvPr>
            <p:ph type="body" idx="103" hasCustomPrompt="1"/>
          </p:nvPr>
        </p:nvSpPr>
        <p:spPr>
          <a:xfrm>
            <a:off x="548640" y="10972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altLang="ko-KR" sz="8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35C3C9EF-206B-F7B8-1869-99228499D7D7}"/>
              </a:ext>
            </a:extLst>
          </p:cNvPr>
          <p:cNvSpPr>
            <a:spLocks noGrp="1"/>
          </p:cNvSpPr>
          <p:nvPr>
            <p:ph type="title" idx="104" hasCustomPrompt="1"/>
          </p:nvPr>
        </p:nvSpPr>
        <p:spPr>
          <a:xfrm>
            <a:off x="548640" y="2834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당사 주간 사고사례</a:t>
            </a:r>
            <a:endParaRPr lang="en-US" sz="32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0AF3EF0-56F5-B912-01CB-A8AFAA309EFF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5486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 err="1"/>
              <a:t>이번</a:t>
            </a:r>
            <a:r>
              <a:rPr lang="en-US" dirty="0"/>
              <a:t> </a:t>
            </a:r>
            <a:r>
              <a:rPr lang="en-US" dirty="0" err="1"/>
              <a:t>주</a:t>
            </a:r>
            <a:r>
              <a:rPr lang="en-US" dirty="0"/>
              <a:t> </a:t>
            </a:r>
            <a:r>
              <a:rPr lang="en-US" dirty="0" err="1"/>
              <a:t>발생한</a:t>
            </a:r>
            <a:r>
              <a:rPr lang="en-US" dirty="0"/>
              <a:t> </a:t>
            </a:r>
            <a:r>
              <a:rPr lang="en-US" dirty="0" err="1"/>
              <a:t>사내</a:t>
            </a:r>
            <a:r>
              <a:rPr lang="en-US" dirty="0"/>
              <a:t>/</a:t>
            </a:r>
            <a:r>
              <a:rPr lang="en-US" dirty="0" err="1"/>
              <a:t>협력사</a:t>
            </a:r>
            <a:r>
              <a:rPr lang="en-US" dirty="0"/>
              <a:t> </a:t>
            </a:r>
            <a:r>
              <a:rPr lang="en-US" dirty="0" err="1"/>
              <a:t>안전사고</a:t>
            </a:r>
            <a:r>
              <a:rPr lang="en-US" dirty="0"/>
              <a:t> </a:t>
            </a:r>
            <a:r>
              <a:rPr lang="en-US" dirty="0" err="1"/>
              <a:t>개요</a:t>
            </a:r>
            <a:endParaRPr lang="en-US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E12B768-0EF0-3A72-B65D-13CB0B48A2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0392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A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0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5" hasCustomPrompt="1"/>
          </p:nvPr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[사고사례] 프레스 협착 사고</a:t>
            </a:r>
            <a:endParaRPr lang="en-US" sz="2500" dirty="0"/>
          </a:p>
        </p:txBody>
      </p:sp>
      <p:sp>
        <p:nvSpPr>
          <p:cNvPr id="3" name="Text 6"/>
          <p:cNvSpPr>
            <a:spLocks noGrp="1"/>
          </p:cNvSpPr>
          <p:nvPr>
            <p:ph type="body" idx="109" hasCustomPrompt="1"/>
          </p:nvPr>
        </p:nvSpPr>
        <p:spPr>
          <a:xfrm>
            <a:off x="178308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2026.07.20(월) 14:30</a:t>
            </a:r>
            <a:endParaRPr lang="en-US" sz="1200" dirty="0"/>
          </a:p>
        </p:txBody>
      </p:sp>
      <p:sp>
        <p:nvSpPr>
          <p:cNvPr id="4" name="Text 7"/>
          <p:cNvSpPr>
            <a:spLocks noGrp="1"/>
          </p:cNvSpPr>
          <p:nvPr>
            <p:ph type="body" idx="112" hasCustomPrompt="1"/>
          </p:nvPr>
        </p:nvSpPr>
        <p:spPr>
          <a:xfrm>
            <a:off x="178308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OO공장 3라인 프레스 작업장</a:t>
            </a:r>
            <a:endParaRPr lang="en-US" sz="1200" dirty="0"/>
          </a:p>
        </p:txBody>
      </p:sp>
      <p:sp>
        <p:nvSpPr>
          <p:cNvPr id="5" name="Text 8"/>
          <p:cNvSpPr>
            <a:spLocks noGrp="1"/>
          </p:cNvSpPr>
          <p:nvPr>
            <p:ph type="body" idx="115" hasCustomPrompt="1"/>
          </p:nvPr>
        </p:nvSpPr>
        <p:spPr>
          <a:xfrm>
            <a:off x="178308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생산1팀 / 협력업체 OOO</a:t>
            </a:r>
            <a:endParaRPr lang="en-US" sz="1200" dirty="0"/>
          </a:p>
        </p:txBody>
      </p:sp>
      <p:sp>
        <p:nvSpPr>
          <p:cNvPr id="6" name="Text 9"/>
          <p:cNvSpPr>
            <a:spLocks noGrp="1"/>
          </p:cNvSpPr>
          <p:nvPr>
            <p:ph type="body" idx="118" hasCustomPrompt="1"/>
          </p:nvPr>
        </p:nvSpPr>
        <p:spPr>
          <a:xfrm>
            <a:off x="1783080" y="31546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프레스 금형 교체작업 중 안전핀 미체결 상태에서 페달이 오작동되어 손 협착 발생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작업자 우측 손가락 3지골 골절, 병원 이송 후 응급 수술 시행</a:t>
            </a:r>
            <a:endParaRPr lang="en-US" sz="1200" dirty="0"/>
          </a:p>
        </p:txBody>
      </p:sp>
      <p:sp>
        <p:nvSpPr>
          <p:cNvPr id="7" name="Text 10"/>
          <p:cNvSpPr>
            <a:spLocks noGrp="1"/>
          </p:cNvSpPr>
          <p:nvPr>
            <p:ph type="body" idx="120" hasCustomPrompt="1"/>
          </p:nvPr>
        </p:nvSpPr>
        <p:spPr>
          <a:xfrm>
            <a:off x="731520" y="4892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재해정도 : 경상 (4주 진단)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6E6E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10972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2834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 원인 분석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600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직접원인 · 간접원인 및 재발방지대책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320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A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142</Words>
  <Application>Microsoft Macintosh PowerPoint</Application>
  <PresentationFormat>On-screen Show (4:3)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제조현장 안전사고 사례</vt:lpstr>
      <vt:lpstr>목차</vt:lpstr>
      <vt:lpstr>당사 주간 사고사례</vt:lpstr>
      <vt:lpstr>[사고사례] 프레스 협착 사고</vt:lpstr>
      <vt:lpstr>사고 원인 분석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jisung ha</cp:lastModifiedBy>
  <cp:revision>2</cp:revision>
  <dcterms:created xsi:type="dcterms:W3CDTF">2026-07-24T04:03:55Z</dcterms:created>
  <dcterms:modified xsi:type="dcterms:W3CDTF">2026-07-24T15:16:21Z</dcterms:modified>
</cp:coreProperties>
</file>